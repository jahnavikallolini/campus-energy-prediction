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33f8803-7ad8-d532-1ad2-fc6da8ef4b08}">
          <p14:sldIdLst>
            <p14:sldId id="256"/>
            <p14:sldId id="257"/>
            <p14:sldId id="258"/>
            <p14:sldId id="259"/>
            <p14:sldId id="260"/>
            <p14:sldId id="261"/>
            <p14:sldId id="262"/>
            <p14:sldId id="263"/>
            <p14:sldId id="264"/>
          </p14:sldIdLst>
        </p14:section>
        <p14:section name="Conclusion" id="{4c981a55-e5a9-8043-367f-362e2c84765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7"/>
                </a:solidFill>
                <a:latin typeface="+mn-lt"/>
              </a:defRPr>
            </a:pPr>
            <a:r>
              <a:rPr sz="1100" b="0" i="0" u="none" strike="noStrike">
                <a:solidFill>
                  <a:srgbClr val="1F2937"/>
                </a:solidFill>
                <a:latin typeface="+mn-lt"/>
              </a:rPr>
              <a:t>Macro nRMSE (lower is better)</a:t>
            </a:r>
          </a:p>
        </c:rich>
      </c:tx>
      <c:layout/>
      <c:overlay val="0"/>
    </c:title>
    <c:autoTitleDeleted val="0"/>
    <c:plotArea>
      <c:layout/>
      <c:barChart>
        <c:barDir val="col"/>
        <c:grouping val="clustered"/>
        <c:varyColors val="0"/>
        <c:ser>
          <c:idx val="0"/>
          <c:order val="0"/>
          <c:tx>
            <c:strRef>
              <c:f>Sheet1!$B$1</c:f>
              <c:strCache>
                <c:ptCount val="1"/>
                <c:pt idx="0">
                  <c:v>Validation</c:v>
                </c:pt>
              </c:strCache>
            </c:strRef>
          </c:tx>
          <c:spPr>
            <a:solidFill>
              <a:srgbClr val="0072B2"/>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SVR</c:v>
                  </c:pt>
                  <c:pt idx="1">
                    <c:v>Linear</c:v>
                  </c:pt>
                  <c:pt idx="2">
                    <c:v>Decision Tree</c:v>
                  </c:pt>
                  <c:pt idx="3">
                    <c:v>KNN</c:v>
                  </c:pt>
                  <c:pt idx="4">
                    <c:v>Persistence</c:v>
                  </c:pt>
                </c:lvl>
              </c:multiLvlStrCache>
            </c:multiLvlStrRef>
          </c:cat>
          <c:val>
            <c:numRef>
              <c:f>Sheet1!$B$2:$B$6</c:f>
              <c:numCache>
                <c:formatCode>General</c:formatCode>
                <c:ptCount val="5"/>
                <c:pt idx="0">
                  <c:v>0.321</c:v>
                </c:pt>
                <c:pt idx="1">
                  <c:v>0.348</c:v>
                </c:pt>
                <c:pt idx="2">
                  <c:v>0.357</c:v>
                </c:pt>
                <c:pt idx="3">
                  <c:v>0.398</c:v>
                </c:pt>
                <c:pt idx="4">
                  <c:v>0.442</c:v>
                </c:pt>
              </c:numCache>
            </c:numRef>
          </c:val>
        </c:ser>
        <c:ser>
          <c:idx val="1"/>
          <c:order val="1"/>
          <c:tx>
            <c:strRef>
              <c:f>Sheet1!$C$1</c:f>
              <c:strCache>
                <c:ptCount val="1"/>
                <c:pt idx="0">
                  <c:v>Primary test</c:v>
                </c:pt>
              </c:strCache>
            </c:strRef>
          </c:tx>
          <c:spPr>
            <a:solidFill>
              <a:srgbClr val="009E73"/>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SVR</c:v>
                  </c:pt>
                  <c:pt idx="1">
                    <c:v>Linear</c:v>
                  </c:pt>
                  <c:pt idx="2">
                    <c:v>Decision Tree</c:v>
                  </c:pt>
                  <c:pt idx="3">
                    <c:v>KNN</c:v>
                  </c:pt>
                  <c:pt idx="4">
                    <c:v>Persistence</c:v>
                  </c:pt>
                </c:lvl>
              </c:multiLvlStrCache>
            </c:multiLvlStrRef>
          </c:cat>
          <c:val>
            <c:numRef>
              <c:f>Sheet1!$C$2:$C$6</c:f>
              <c:numCache>
                <c:formatCode>General</c:formatCode>
                <c:ptCount val="5"/>
                <c:pt idx="0">
                  <c:v>0.382</c:v>
                </c:pt>
                <c:pt idx="1">
                  <c:v>0.392</c:v>
                </c:pt>
                <c:pt idx="2">
                  <c:v>0.465</c:v>
                </c:pt>
                <c:pt idx="3">
                  <c:v>0.464</c:v>
                </c:pt>
                <c:pt idx="4">
                  <c:v>0.49</c:v>
                </c:pt>
              </c:numCache>
            </c:numRef>
          </c:val>
        </c:ser>
        <c:ser>
          <c:idx val="2"/>
          <c:order val="2"/>
          <c:tx>
            <c:strRef>
              <c:f>Sheet1!$D$1</c:f>
              <c:strCache>
                <c:ptCount val="1"/>
                <c:pt idx="0">
                  <c:v>After break (sensitivity)</c:v>
                </c:pt>
              </c:strCache>
            </c:strRef>
          </c:tx>
          <c:spPr>
            <a:solidFill>
              <a:srgbClr val="D55E00"/>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SVR</c:v>
                  </c:pt>
                  <c:pt idx="1">
                    <c:v>Linear</c:v>
                  </c:pt>
                  <c:pt idx="2">
                    <c:v>Decision Tree</c:v>
                  </c:pt>
                  <c:pt idx="3">
                    <c:v>KNN</c:v>
                  </c:pt>
                  <c:pt idx="4">
                    <c:v>Persistence</c:v>
                  </c:pt>
                </c:lvl>
              </c:multiLvlStrCache>
            </c:multiLvlStrRef>
          </c:cat>
          <c:val>
            <c:numRef>
              <c:f>Sheet1!$D$2:$D$6</c:f>
              <c:numCache>
                <c:formatCode>General</c:formatCode>
                <c:ptCount val="5"/>
                <c:pt idx="0">
                  <c:v>0.503</c:v>
                </c:pt>
                <c:pt idx="1">
                  <c:v>0.446</c:v>
                </c:pt>
                <c:pt idx="2">
                  <c:v>0.477</c:v>
                </c:pt>
                <c:pt idx="3">
                  <c:v>0.554</c:v>
                </c:pt>
                <c:pt idx="4">
                  <c:v>0.477</c:v>
                </c:pt>
              </c:numCache>
            </c:numRef>
          </c:val>
        </c:ser>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Mini-project based on the submitted synopsis. All numbers in this deck come from the project's saved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follow the synopsis. The weather file covers only March-June 2018, after the last energy reading, so it cannot be used; backup feeders are excluded to keep seven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occupancy stays missing: the released occupancy never reports zero. Short gaps in lag inputs use causal carry-forward of at most one hour; targets are never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fitted on training rows only and evaluated once on validation and test. The tuning code never loads test rows; automated tests check lags, rolling windows, scalers, encodings and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 average over seven buildings of RMSE divided by each building's training standard deviation (lower is better). SVR was selected on validation. On the primary test period it is still best; after the break all time-of-day dependent models degrade.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of the selected SVR and Linear Regression per building. Lagged occupancy gave no measurable gain on identical rows; Lecture reads exactly 0 W in most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profiles of all seven energy series move earlier by 4-6 h from about 2017-07-08, right after logging gaps; occupancy does not shift. The authors' reader script applies a fixed +05:30 conversion and documents no break. Nothing was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Flagged hours are statistical outliers relative to the model; there is no ground truth for faults. Thresholds use validation residuals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is not used as a modelling step. K-Means on all seven buildings is dominated by Lecture's two regimes; without Lecture the structure is moderate.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run: streamlit run app/streamlit_app.py. It reads saved outputs only. The deck has no dashboard screenshot; the dashboard was tested headlessly.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3A5F"/>
          </a:solidFill>
          <a:ln/>
        </p:spPr>
      </p:sp>
      <p:sp>
        <p:nvSpPr>
          <p:cNvPr id="3" name="Shape 1"/>
          <p:cNvSpPr/>
          <p:nvPr/>
        </p:nvSpPr>
        <p:spPr>
          <a:xfrm>
            <a:off x="411480" y="868680"/>
            <a:ext cx="8321040" cy="0"/>
          </a:xfrm>
          <a:prstGeom prst="line">
            <a:avLst/>
          </a:prstGeom>
          <a:noFill/>
          <a:ln w="9525">
            <a:solidFill>
              <a:srgbClr val="D1D5DB"/>
            </a:solidFill>
            <a:prstDash val="solid"/>
          </a:ln>
        </p:spPr>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05840"/>
            <a:ext cx="8046720" cy="1371600"/>
          </a:xfrm>
          <a:prstGeom prst="rect">
            <a:avLst/>
          </a:prstGeom>
          <a:noFill/>
          <a:ln/>
        </p:spPr>
        <p:txBody>
          <a:bodyPr wrap="square" lIns="0" tIns="0" rIns="0" bIns="0" rtlCol="0" anchor="t"/>
          <a:lstStyle/>
          <a:p>
            <a:pPr indent="0" marL="0">
              <a:buNone/>
            </a:pPr>
            <a:r>
              <a:rPr lang="en-US" sz="3000" b="1" dirty="0">
                <a:solidFill>
                  <a:srgbClr val="FFFFFF"/>
                </a:solidFill>
              </a:rPr>
              <a:t>Machine Learning-Based Smart Campus Energy Consumption Prediction and Anomaly Detection</a:t>
            </a:r>
            <a:endParaRPr lang="en-US" sz="3000" dirty="0"/>
          </a:p>
        </p:txBody>
      </p:sp>
      <p:sp>
        <p:nvSpPr>
          <p:cNvPr id="3" name="Text 1"/>
          <p:cNvSpPr txBox="1"/>
          <p:nvPr/>
        </p:nvSpPr>
        <p:spPr>
          <a:xfrm>
            <a:off x="548640" y="2743200"/>
            <a:ext cx="8046720" cy="365760"/>
          </a:xfrm>
          <a:prstGeom prst="rect">
            <a:avLst/>
          </a:prstGeom>
          <a:noFill/>
          <a:ln/>
        </p:spPr>
        <p:txBody>
          <a:bodyPr wrap="square" lIns="0" tIns="0" rIns="0" bIns="0" rtlCol="0" anchor="ctr"/>
          <a:lstStyle/>
          <a:p>
            <a:pPr indent="0" marL="0">
              <a:buNone/>
            </a:pPr>
            <a:r>
              <a:rPr lang="en-US" sz="1600" dirty="0">
                <a:solidFill>
                  <a:srgbClr val="FFFFFF"/>
                </a:solidFill>
              </a:rPr>
              <a:t>Jahnavi Kallolini  |  Navya Menon  |  Keshav Agrawal</a:t>
            </a:r>
            <a:endParaRPr lang="en-US" sz="1600" dirty="0"/>
          </a:p>
        </p:txBody>
      </p:sp>
      <p:sp>
        <p:nvSpPr>
          <p:cNvPr id="4" name="Text 2"/>
          <p:cNvSpPr txBox="1"/>
          <p:nvPr/>
        </p:nvSpPr>
        <p:spPr>
          <a:xfrm>
            <a:off x="548640" y="3200400"/>
            <a:ext cx="8046720" cy="731520"/>
          </a:xfrm>
          <a:prstGeom prst="rect">
            <a:avLst/>
          </a:prstGeom>
          <a:noFill/>
          <a:ln/>
        </p:spPr>
        <p:txBody>
          <a:bodyPr wrap="square" lIns="0" tIns="0" rIns="0" bIns="0" rtlCol="0" anchor="ctr"/>
          <a:lstStyle/>
          <a:p>
            <a:pPr indent="0" marL="0">
              <a:buNone/>
            </a:pPr>
            <a:r>
              <a:rPr lang="en-US" sz="1200" dirty="0">
                <a:solidFill>
                  <a:srgbClr val="D1D5DB"/>
                </a:solidFill>
              </a:rPr>
              <a:t>B.Tech CSE (AI&amp;ML), School of Computer Engineering, Manipal Institute of Technology</a:t>
            </a:r>
            <a:endParaRPr lang="en-US" sz="1200" dirty="0"/>
          </a:p>
          <a:p>
            <a:pPr indent="0" marL="0">
              <a:buNone/>
            </a:pPr>
            <a:r>
              <a:rPr lang="en-US" sz="1200" dirty="0">
                <a:solidFill>
                  <a:srgbClr val="D1D5DB"/>
                </a:solidFill>
              </a:rPr>
              <a:t>Mentors: Dr. Narendra V. G., Dr. Ashwath Rao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Problem, data and objectives</a:t>
            </a:r>
            <a:endParaRPr lang="en-US" sz="2100" dirty="0"/>
          </a:p>
        </p:txBody>
      </p:sp>
      <p:sp>
        <p:nvSpPr>
          <p:cNvPr id="4" name="Text 1"/>
          <p:cNvSpPr txBox="1"/>
          <p:nvPr/>
        </p:nvSpPr>
        <p:spPr>
          <a:xfrm>
            <a:off x="411480" y="1005840"/>
            <a:ext cx="4023360" cy="274320"/>
          </a:xfrm>
          <a:prstGeom prst="rect">
            <a:avLst/>
          </a:prstGeom>
          <a:noFill/>
          <a:ln/>
        </p:spPr>
        <p:txBody>
          <a:bodyPr wrap="square" lIns="0" tIns="0" rIns="0" bIns="0" rtlCol="0" anchor="ctr"/>
          <a:lstStyle/>
          <a:p>
            <a:pPr indent="0" marL="0">
              <a:buNone/>
            </a:pPr>
            <a:r>
              <a:rPr lang="en-US" sz="1400" b="1" dirty="0">
                <a:solidFill>
                  <a:srgbClr val="0072B2"/>
                </a:solidFill>
              </a:rPr>
              <a:t>Objectives</a:t>
            </a:r>
            <a:endParaRPr lang="en-US" sz="1400" dirty="0"/>
          </a:p>
        </p:txBody>
      </p:sp>
      <p:sp>
        <p:nvSpPr>
          <p:cNvPr id="5" name="Text 2"/>
          <p:cNvSpPr txBox="1"/>
          <p:nvPr/>
        </p:nvSpPr>
        <p:spPr>
          <a:xfrm>
            <a:off x="411480" y="1371600"/>
            <a:ext cx="4023360" cy="2377440"/>
          </a:xfrm>
          <a:prstGeom prst="rect">
            <a:avLst/>
          </a:prstGeom>
          <a:noFill/>
          <a:ln/>
        </p:spPr>
        <p:txBody>
          <a:bodyPr wrap="square" lIns="508" tIns="508" rIns="508" bIns="508" rtlCol="0" anchor="t"/>
          <a:lstStyle/>
          <a:p>
            <a:pPr marL="342900" indent="-342900">
              <a:spcAft>
                <a:spcPts val="500"/>
              </a:spcAft>
              <a:buSzPct val="100000"/>
              <a:buChar char="•"/>
            </a:pPr>
            <a:r>
              <a:rPr lang="en-US" sz="1400" dirty="0">
                <a:solidFill>
                  <a:srgbClr val="1F2937"/>
                </a:solidFill>
              </a:rPr>
              <a:t>Predict hourly power of seven campus building feeders</a:t>
            </a:r>
            <a:endParaRPr lang="en-US" sz="1400" dirty="0"/>
          </a:p>
          <a:p>
            <a:pPr marL="342900" indent="-342900">
              <a:spcAft>
                <a:spcPts val="500"/>
              </a:spcAft>
              <a:buSzPct val="100000"/>
              <a:buChar char="•"/>
            </a:pPr>
            <a:r>
              <a:rPr lang="en-US" sz="1400" dirty="0">
                <a:solidFill>
                  <a:srgbClr val="1F2937"/>
                </a:solidFill>
              </a:rPr>
              <a:t>Compare Linear Regression, KNN, Decision Tree and SVR</a:t>
            </a:r>
            <a:endParaRPr lang="en-US" sz="1400" dirty="0"/>
          </a:p>
          <a:p>
            <a:pPr marL="342900" indent="-342900">
              <a:spcAft>
                <a:spcPts val="500"/>
              </a:spcAft>
              <a:buSzPct val="100000"/>
              <a:buChar char="•"/>
            </a:pPr>
            <a:r>
              <a:rPr lang="en-US" sz="1400" dirty="0">
                <a:solidFill>
                  <a:srgbClr val="1F2937"/>
                </a:solidFill>
              </a:rPr>
              <a:t>Flag potential anomalous consumption from prediction residuals</a:t>
            </a:r>
            <a:endParaRPr lang="en-US" sz="1400" dirty="0"/>
          </a:p>
          <a:p>
            <a:pPr marL="342900" indent="-342900">
              <a:spcAft>
                <a:spcPts val="500"/>
              </a:spcAft>
              <a:buSzPct val="100000"/>
              <a:buChar char="•"/>
            </a:pPr>
            <a:r>
              <a:rPr lang="en-US" sz="1400" dirty="0">
                <a:solidFill>
                  <a:srgbClr val="1F2937"/>
                </a:solidFill>
              </a:rPr>
              <a:t>Explore patterns with PCA and K-Means</a:t>
            </a:r>
            <a:endParaRPr lang="en-US" sz="1400" dirty="0"/>
          </a:p>
        </p:txBody>
      </p:sp>
      <p:sp>
        <p:nvSpPr>
          <p:cNvPr id="6" name="Text 3"/>
          <p:cNvSpPr txBox="1"/>
          <p:nvPr/>
        </p:nvSpPr>
        <p:spPr>
          <a:xfrm>
            <a:off x="4754880" y="1005840"/>
            <a:ext cx="3931920" cy="274320"/>
          </a:xfrm>
          <a:prstGeom prst="rect">
            <a:avLst/>
          </a:prstGeom>
          <a:noFill/>
          <a:ln/>
        </p:spPr>
        <p:txBody>
          <a:bodyPr wrap="square" lIns="0" tIns="0" rIns="0" bIns="0" rtlCol="0" anchor="ctr"/>
          <a:lstStyle/>
          <a:p>
            <a:pPr indent="0" marL="0">
              <a:buNone/>
            </a:pPr>
            <a:r>
              <a:rPr lang="en-US" sz="1400" b="1" dirty="0">
                <a:solidFill>
                  <a:srgbClr val="0072B2"/>
                </a:solidFill>
              </a:rPr>
              <a:t>Data (I-BLEND)</a:t>
            </a:r>
            <a:endParaRPr lang="en-US" sz="1400" dirty="0"/>
          </a:p>
        </p:txBody>
      </p:sp>
      <p:sp>
        <p:nvSpPr>
          <p:cNvPr id="7" name="Text 4"/>
          <p:cNvSpPr txBox="1"/>
          <p:nvPr/>
        </p:nvSpPr>
        <p:spPr>
          <a:xfrm>
            <a:off x="4754880" y="1371600"/>
            <a:ext cx="3931920" cy="2560320"/>
          </a:xfrm>
          <a:prstGeom prst="rect">
            <a:avLst/>
          </a:prstGeom>
          <a:noFill/>
          <a:ln/>
        </p:spPr>
        <p:txBody>
          <a:bodyPr wrap="square" lIns="508" tIns="508" rIns="508" bIns="508" rtlCol="0" anchor="t"/>
          <a:lstStyle/>
          <a:p>
            <a:pPr marL="342900" indent="-342900">
              <a:spcAft>
                <a:spcPts val="500"/>
              </a:spcAft>
              <a:buSzPct val="100000"/>
              <a:buChar char="•"/>
            </a:pPr>
            <a:r>
              <a:rPr lang="en-US" sz="1300" dirty="0">
                <a:solidFill>
                  <a:srgbClr val="1F2937"/>
                </a:solidFill>
              </a:rPr>
              <a:t>Aug 2013 to Dec 2017; seven main feeders</a:t>
            </a:r>
            <a:endParaRPr lang="en-US" sz="1300" dirty="0"/>
          </a:p>
          <a:p>
            <a:pPr marL="342900" indent="-342900">
              <a:spcAft>
                <a:spcPts val="500"/>
              </a:spcAft>
              <a:buSzPct val="100000"/>
              <a:buChar char="•"/>
            </a:pPr>
            <a:r>
              <a:rPr lang="en-US" sz="1300" dirty="0">
                <a:solidFill>
                  <a:srgbClr val="1F2937"/>
                </a:solidFill>
              </a:rPr>
              <a:t>Power every minute (W); Wi-Fi occupancy every 10 min; daily academic calendar</a:t>
            </a:r>
            <a:endParaRPr lang="en-US" sz="1300" dirty="0"/>
          </a:p>
          <a:p>
            <a:pPr marL="342900" indent="-342900">
              <a:spcAft>
                <a:spcPts val="500"/>
              </a:spcAft>
              <a:buSzPct val="100000"/>
              <a:buChar char="•"/>
            </a:pPr>
            <a:r>
              <a:rPr lang="en-US" sz="1300" dirty="0">
                <a:solidFill>
                  <a:srgbClr val="1F2937"/>
                </a:solidFill>
              </a:rPr>
              <a:t>Target: hourly mean power</a:t>
            </a:r>
            <a:endParaRPr lang="en-US" sz="1300" dirty="0"/>
          </a:p>
          <a:p>
            <a:pPr marL="342900" indent="-342900">
              <a:spcAft>
                <a:spcPts val="500"/>
              </a:spcAft>
              <a:buSzPct val="100000"/>
              <a:buChar char="•"/>
            </a:pPr>
            <a:r>
              <a:rPr lang="en-US" sz="1300" dirty="0">
                <a:solidFill>
                  <a:srgbClr val="1F2937"/>
                </a:solidFill>
              </a:rPr>
              <a:t>Weather excluded: only Mar-Jun 2018, no overlap</a:t>
            </a:r>
            <a:endParaRPr lang="en-US" sz="1300" dirty="0"/>
          </a:p>
          <a:p>
            <a:pPr marL="342900" indent="-342900">
              <a:spcAft>
                <a:spcPts val="500"/>
              </a:spcAft>
              <a:buSzPct val="100000"/>
              <a:buChar char="•"/>
            </a:pPr>
            <a:r>
              <a:rPr lang="en-US" sz="1300" dirty="0">
                <a:solidFill>
                  <a:srgbClr val="1F2937"/>
                </a:solidFill>
              </a:rPr>
              <a:t>Hostel UPS (backup) feeders excluded</a:t>
            </a:r>
            <a:endParaRPr lang="en-US" sz="1300" dirty="0"/>
          </a:p>
        </p:txBody>
      </p:sp>
      <p:sp>
        <p:nvSpPr>
          <p:cNvPr id="8" name="Text 5"/>
          <p:cNvSpPr txBox="1"/>
          <p:nvPr/>
        </p:nvSpPr>
        <p:spPr>
          <a:xfrm>
            <a:off x="411480" y="3840480"/>
            <a:ext cx="8321040" cy="365760"/>
          </a:xfrm>
          <a:prstGeom prst="rect">
            <a:avLst/>
          </a:prstGeom>
          <a:noFill/>
          <a:ln/>
        </p:spPr>
        <p:txBody>
          <a:bodyPr wrap="square" lIns="0" tIns="0" rIns="0" bIns="0" rtlCol="0" anchor="ctr"/>
          <a:lstStyle/>
          <a:p>
            <a:pPr indent="0" marL="0">
              <a:buNone/>
            </a:pPr>
            <a:r>
              <a:rPr lang="en-US" sz="1100" dirty="0">
                <a:solidFill>
                  <a:srgbClr val="6B7280"/>
                </a:solidFill>
              </a:rPr>
              <a:t>Buildings: Academic, Boys Hostel, Facilities, Girls Hostel, Lecture, Library, Mess</a:t>
            </a:r>
            <a:endParaRPr lang="en-US" sz="11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Preprocessing and features</a:t>
            </a:r>
            <a:endParaRPr lang="en-US" sz="2100" dirty="0"/>
          </a:p>
        </p:txBody>
      </p:sp>
      <p:sp>
        <p:nvSpPr>
          <p:cNvPr id="4" name="Text 1"/>
          <p:cNvSpPr txBox="1"/>
          <p:nvPr/>
        </p:nvSpPr>
        <p:spPr>
          <a:xfrm>
            <a:off x="411480" y="1051560"/>
            <a:ext cx="4297680" cy="3566160"/>
          </a:xfrm>
          <a:prstGeom prst="rect">
            <a:avLst/>
          </a:prstGeom>
          <a:noFill/>
          <a:ln/>
        </p:spPr>
        <p:txBody>
          <a:bodyPr wrap="square" lIns="508" tIns="508" rIns="508" bIns="508" rtlCol="0" anchor="t"/>
          <a:lstStyle/>
          <a:p>
            <a:pPr marL="342900" indent="-342900">
              <a:spcAft>
                <a:spcPts val="500"/>
              </a:spcAft>
              <a:buSzPct val="100000"/>
              <a:buChar char="•"/>
            </a:pPr>
            <a:r>
              <a:rPr lang="en-US" sz="1300" dirty="0">
                <a:solidFill>
                  <a:srgbClr val="1F2937"/>
                </a:solidFill>
              </a:rPr>
              <a:t>Hour valid if at least 45/60 power readings (occupancy: 4/6)</a:t>
            </a:r>
            <a:endParaRPr lang="en-US" sz="1300" dirty="0"/>
          </a:p>
          <a:p>
            <a:pPr marL="342900" indent="-342900">
              <a:spcAft>
                <a:spcPts val="500"/>
              </a:spcAft>
              <a:buSzPct val="100000"/>
              <a:buChar char="•"/>
            </a:pPr>
            <a:r>
              <a:rPr lang="en-US" sz="1300" dirty="0">
                <a:solidFill>
                  <a:srgbClr val="1F2937"/>
                </a:solidFill>
              </a:rPr>
              <a:t>Long outages kept missing (hostels and library: 200+ days); never filled</a:t>
            </a:r>
            <a:endParaRPr lang="en-US" sz="1300" dirty="0"/>
          </a:p>
          <a:p>
            <a:pPr marL="342900" indent="-342900">
              <a:spcAft>
                <a:spcPts val="500"/>
              </a:spcAft>
              <a:buSzPct val="100000"/>
              <a:buChar char="•"/>
            </a:pPr>
            <a:r>
              <a:rPr lang="en-US" sz="1300" dirty="0">
                <a:solidFill>
                  <a:srgbClr val="1F2937"/>
                </a:solidFill>
              </a:rPr>
              <a:t>Each building modelled on its own valid data</a:t>
            </a:r>
            <a:endParaRPr lang="en-US" sz="1300" dirty="0"/>
          </a:p>
          <a:p>
            <a:pPr marL="342900" indent="-342900">
              <a:spcAft>
                <a:spcPts val="500"/>
              </a:spcAft>
              <a:buSzPct val="100000"/>
              <a:buChar char="•"/>
            </a:pPr>
            <a:r>
              <a:rPr lang="en-US" sz="1300" dirty="0">
                <a:solidFill>
                  <a:srgbClr val="1F2937"/>
                </a:solidFill>
              </a:rPr>
              <a:t>Features: hour, weekday, weekend, month, working day, activity H/L; power lags 1, 2, 24; 24 h rolling mean/std; occupancy lags 1, 2, 24</a:t>
            </a:r>
            <a:endParaRPr lang="en-US" sz="1300" dirty="0"/>
          </a:p>
          <a:p>
            <a:pPr marL="342900" indent="-342900">
              <a:spcAft>
                <a:spcPts val="500"/>
              </a:spcAft>
              <a:buSzPct val="100000"/>
              <a:buChar char="•"/>
            </a:pPr>
            <a:r>
              <a:rPr lang="en-US" sz="1300" dirty="0">
                <a:solidFill>
                  <a:srgbClr val="1F2937"/>
                </a:solidFill>
              </a:rPr>
              <a:t>No current-hour occupancy or future information</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937760" y="1051560"/>
          <a:ext cx="3749040" cy="914400"/>
        </p:xfrm>
        <a:graphic>
          <a:graphicData uri="http://schemas.openxmlformats.org/drawingml/2006/table">
            <a:tbl>
              <a:tblPr/>
              <a:tblGrid>
                <a:gridCol w="1554480"/>
                <a:gridCol w="1097280"/>
                <a:gridCol w="1097280"/>
              </a:tblGrid>
              <a:tr h="274320">
                <a:tc>
                  <a:txBody>
                    <a:bodyPr/>
                    <a:lstStyle/>
                    <a:p>
                      <a:pPr algn="ctr" indent="0" marL="0">
                        <a:buNone/>
                      </a:pPr>
                      <a:r>
                        <a:rPr lang="en-US" sz="1000" b="1" dirty="0">
                          <a:solidFill>
                            <a:srgbClr val="FFFFFF"/>
                          </a:solidFill>
                        </a:rPr>
                        <a:t>Building</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Valid hours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Primary rows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r>
              <a:tr h="274320">
                <a:tc>
                  <a:txBody>
                    <a:bodyPr/>
                    <a:lstStyle/>
                    <a:p>
                      <a:pPr indent="0" marL="0">
                        <a:buNone/>
                      </a:pPr>
                      <a:r>
                        <a:rPr lang="en-US" sz="1000" dirty="0">
                          <a:solidFill>
                            <a:srgbClr val="1F2937"/>
                          </a:solidFill>
                        </a:rPr>
                        <a:t>Academic</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37,805</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28,894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Boys Hostel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27,668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18,385</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Facilities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34,039</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23,739</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Girls Hostel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27,482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18,392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Lecture</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37,806</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22,738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Library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28,547</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18,831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rgbClr val="1F2937"/>
                          </a:solidFill>
                        </a:rPr>
                        <a:t>Mess (Dining)</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33,513</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25,353</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6" name="Text 2"/>
          <p:cNvSpPr txBox="1"/>
          <p:nvPr/>
        </p:nvSpPr>
        <p:spPr>
          <a:xfrm>
            <a:off x="4937760" y="3383280"/>
            <a:ext cx="3749040" cy="457200"/>
          </a:xfrm>
          <a:prstGeom prst="rect">
            <a:avLst/>
          </a:prstGeom>
          <a:noFill/>
          <a:ln/>
        </p:spPr>
        <p:txBody>
          <a:bodyPr wrap="square" lIns="0" tIns="0" rIns="0" bIns="0" rtlCol="0" anchor="ctr"/>
          <a:lstStyle/>
          <a:p>
            <a:pPr indent="0" marL="0">
              <a:buNone/>
            </a:pPr>
            <a:r>
              <a:rPr lang="en-US" sz="1000" dirty="0">
                <a:solidFill>
                  <a:srgbClr val="6B7280"/>
                </a:solidFill>
              </a:rPr>
              <a:t>Primary rows need an observed target and all lag features, including occupancy.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Evaluation protocol and leakage control</a:t>
            </a:r>
            <a:endParaRPr lang="en-US" sz="2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4754880" cy="914400"/>
        </p:xfrm>
        <a:graphic>
          <a:graphicData uri="http://schemas.openxmlformats.org/drawingml/2006/table">
            <a:tbl>
              <a:tblPr/>
              <a:tblGrid>
                <a:gridCol w="1645920"/>
                <a:gridCol w="2194560"/>
                <a:gridCol w="914400"/>
              </a:tblGrid>
              <a:tr h="329184">
                <a:tc>
                  <a:txBody>
                    <a:bodyPr/>
                    <a:lstStyle/>
                    <a:p>
                      <a:pPr algn="ctr" indent="0" marL="0">
                        <a:buNone/>
                      </a:pPr>
                      <a:r>
                        <a:rPr lang="en-US" sz="1000" b="1" dirty="0">
                          <a:solidFill>
                            <a:srgbClr val="FFFFFF"/>
                          </a:solidFill>
                        </a:rPr>
                        <a:t>Period</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Dates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Rows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r>
              <a:tr h="329184">
                <a:tc>
                  <a:txBody>
                    <a:bodyPr/>
                    <a:lstStyle/>
                    <a:p>
                      <a:pPr indent="0" marL="0">
                        <a:buNone/>
                      </a:pPr>
                      <a:r>
                        <a:rPr lang="en-US" sz="1000" dirty="0">
                          <a:solidFill>
                            <a:srgbClr val="1F2937"/>
                          </a:solidFill>
                        </a:rPr>
                        <a:t>Train</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rPr>
                        <a:t>2014-02-17 to 2016-06-30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90,640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Validation</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rPr>
                        <a:t>2016-07-01 to 2016-12-31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28,428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b="1" dirty="0">
                          <a:solidFill>
                            <a:srgbClr val="1F2937"/>
                          </a:solidFill>
                        </a:rPr>
                        <a:t>Primary test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1F2937"/>
                          </a:solidFill>
                        </a:rPr>
                        <a:t>2017-01-01 to 2017-07-07</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b="1" dirty="0">
                          <a:solidFill>
                            <a:srgbClr val="1F2937"/>
                          </a:solidFill>
                        </a:rPr>
                        <a:t>20,231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D55E00"/>
                          </a:solidFill>
                        </a:rPr>
                        <a:t>Sensitivity (after break)</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D55E00"/>
                          </a:solidFill>
                        </a:rPr>
                        <a:t>2017-07-11 to 2017-11-04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D55E00"/>
                          </a:solidFill>
                        </a:rPr>
                        <a:t>16,885</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5394960" y="1005840"/>
            <a:ext cx="3383280" cy="3657600"/>
          </a:xfrm>
          <a:prstGeom prst="rect">
            <a:avLst/>
          </a:prstGeom>
          <a:noFill/>
          <a:ln/>
        </p:spPr>
        <p:txBody>
          <a:bodyPr wrap="square" lIns="508" tIns="508" rIns="508" bIns="508" rtlCol="0" anchor="t"/>
          <a:lstStyle/>
          <a:p>
            <a:pPr marL="342900" indent="-342900">
              <a:spcAft>
                <a:spcPts val="500"/>
              </a:spcAft>
              <a:buSzPct val="100000"/>
              <a:buChar char="•"/>
            </a:pPr>
            <a:r>
              <a:rPr lang="en-US" sz="1250" dirty="0">
                <a:solidFill>
                  <a:srgbClr val="1F2937"/>
                </a:solidFill>
              </a:rPr>
              <a:t>Chronological split, no shuffling</a:t>
            </a:r>
            <a:endParaRPr lang="en-US" sz="1250" dirty="0"/>
          </a:p>
          <a:p>
            <a:pPr marL="342900" indent="-342900">
              <a:spcAft>
                <a:spcPts val="500"/>
              </a:spcAft>
              <a:buSzPct val="100000"/>
              <a:buChar char="•"/>
            </a:pPr>
            <a:r>
              <a:rPr lang="en-US" sz="1250" dirty="0">
                <a:solidFill>
                  <a:srgbClr val="1F2937"/>
                </a:solidFill>
              </a:rPr>
              <a:t>Encoding and hyper-parameters chosen on validation only</a:t>
            </a:r>
            <a:endParaRPr lang="en-US" sz="1250" dirty="0"/>
          </a:p>
          <a:p>
            <a:pPr marL="342900" indent="-342900">
              <a:spcAft>
                <a:spcPts val="500"/>
              </a:spcAft>
              <a:buSzPct val="100000"/>
              <a:buChar char="•"/>
            </a:pPr>
            <a:r>
              <a:rPr lang="en-US" sz="1250" dirty="0">
                <a:solidFill>
                  <a:srgbClr val="1F2937"/>
                </a:solidFill>
              </a:rPr>
              <a:t>One model per building, same procedure for all</a:t>
            </a:r>
            <a:endParaRPr lang="en-US" sz="1250" dirty="0"/>
          </a:p>
          <a:p>
            <a:pPr marL="342900" indent="-342900">
              <a:spcAft>
                <a:spcPts val="500"/>
              </a:spcAft>
              <a:buSzPct val="100000"/>
              <a:buChar char="•"/>
            </a:pPr>
            <a:r>
              <a:rPr lang="en-US" sz="1250" dirty="0">
                <a:solidFill>
                  <a:srgbClr val="1F2937"/>
                </a:solidFill>
              </a:rPr>
              <a:t>Scalers and one-hot categories fitted on training rows</a:t>
            </a:r>
            <a:endParaRPr lang="en-US" sz="1250" dirty="0"/>
          </a:p>
          <a:p>
            <a:pPr marL="342900" indent="-342900">
              <a:spcAft>
                <a:spcPts val="500"/>
              </a:spcAft>
              <a:buSzPct val="100000"/>
              <a:buChar char="•"/>
            </a:pPr>
            <a:r>
              <a:rPr lang="en-US" sz="1250" dirty="0">
                <a:solidFill>
                  <a:srgbClr val="1F2937"/>
                </a:solidFill>
              </a:rPr>
              <a:t>Metrics: MAE, MSE, RMSE, R2 per building; nRMSE = RMSE / training std for comparison across scales</a:t>
            </a:r>
            <a:endParaRPr lang="en-US" sz="1250" dirty="0"/>
          </a:p>
          <a:p>
            <a:pPr marL="342900" indent="-342900">
              <a:spcAft>
                <a:spcPts val="500"/>
              </a:spcAft>
              <a:buSzPct val="100000"/>
              <a:buChar char="•"/>
            </a:pPr>
            <a:r>
              <a:rPr lang="en-US" sz="1250" dirty="0">
                <a:solidFill>
                  <a:srgbClr val="1F2937"/>
                </a:solidFill>
              </a:rPr>
              <a:t>Persistence and seasonal-naive baselines for reference</a:t>
            </a:r>
            <a:endParaRPr lang="en-US" sz="1250" dirty="0"/>
          </a:p>
        </p:txBody>
      </p:sp>
      <p:sp>
        <p:nvSpPr>
          <p:cNvPr id="6" name="Text 2"/>
          <p:cNvSpPr txBox="1"/>
          <p:nvPr/>
        </p:nvSpPr>
        <p:spPr>
          <a:xfrm>
            <a:off x="411480" y="2743200"/>
            <a:ext cx="4754880" cy="457200"/>
          </a:xfrm>
          <a:prstGeom prst="rect">
            <a:avLst/>
          </a:prstGeom>
          <a:noFill/>
          <a:ln/>
        </p:spPr>
        <p:txBody>
          <a:bodyPr wrap="square" lIns="0" tIns="0" rIns="0" bIns="0" rtlCol="0" anchor="ctr"/>
          <a:lstStyle/>
          <a:p>
            <a:pPr indent="0" marL="0">
              <a:buNone/>
            </a:pPr>
            <a:r>
              <a:rPr lang="en-US" sz="1100" dirty="0">
                <a:solidFill>
                  <a:srgbClr val="D55E00"/>
                </a:solidFill>
              </a:rPr>
              <a:t>The primary test period ends before a timestamp discontinuity (slide 7).</a:t>
            </a:r>
            <a:endParaRPr lang="en-US" sz="11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Model comparison: SVR lowest error, margin over Linear Regression small</a:t>
            </a:r>
            <a:endParaRPr lang="en-US" sz="2100" dirty="0"/>
          </a:p>
        </p:txBody>
      </p:sp>
      <p:graphicFrame>
        <p:nvGraphicFramePr>
          <p:cNvPr id="4" name="Chart 0" descr=""/>
          <p:cNvGraphicFramePr/>
          <p:nvPr/>
        </p:nvGraphicFramePr>
        <p:xfrm>
          <a:off x="411480" y="96012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989320" y="1005840"/>
            <a:ext cx="2743200" cy="3657600"/>
          </a:xfrm>
          <a:prstGeom prst="rect">
            <a:avLst/>
          </a:prstGeom>
          <a:noFill/>
          <a:ln/>
        </p:spPr>
        <p:txBody>
          <a:bodyPr wrap="square" lIns="508" tIns="508" rIns="508" bIns="508" rtlCol="0" anchor="t"/>
          <a:lstStyle/>
          <a:p>
            <a:pPr marL="342900" indent="-342900">
              <a:spcAft>
                <a:spcPts val="500"/>
              </a:spcAft>
              <a:buSzPct val="100000"/>
              <a:buChar char="•"/>
            </a:pPr>
            <a:r>
              <a:rPr lang="en-US" sz="1200" dirty="0">
                <a:solidFill>
                  <a:srgbClr val="1F2937"/>
                </a:solidFill>
              </a:rPr>
              <a:t>Validation R2: SVR 0.892, Linear 0.877</a:t>
            </a:r>
            <a:endParaRPr lang="en-US" sz="1200" dirty="0"/>
          </a:p>
          <a:p>
            <a:pPr marL="342900" indent="-342900">
              <a:spcAft>
                <a:spcPts val="500"/>
              </a:spcAft>
              <a:buSzPct val="100000"/>
              <a:buChar char="•"/>
            </a:pPr>
            <a:r>
              <a:rPr lang="en-US" sz="1200" dirty="0">
                <a:solidFill>
                  <a:srgbClr val="1F2937"/>
                </a:solidFill>
              </a:rPr>
              <a:t>Primary test R2: SVR 0.850, Linear 0.845</a:t>
            </a:r>
            <a:endParaRPr lang="en-US" sz="1200" dirty="0"/>
          </a:p>
          <a:p>
            <a:pPr marL="342900" indent="-342900">
              <a:spcAft>
                <a:spcPts val="500"/>
              </a:spcAft>
              <a:buSzPct val="100000"/>
              <a:buChar char="•"/>
            </a:pPr>
            <a:r>
              <a:rPr lang="en-US" sz="1200" dirty="0">
                <a:solidFill>
                  <a:srgbClr val="1F2937"/>
                </a:solidFill>
              </a:rPr>
              <a:t>Decision Tree and KNN are close to persistence on test</a:t>
            </a:r>
            <a:endParaRPr lang="en-US" sz="1200" dirty="0"/>
          </a:p>
          <a:p>
            <a:pPr marL="342900" indent="-342900">
              <a:spcAft>
                <a:spcPts val="500"/>
              </a:spcAft>
              <a:buSzPct val="100000"/>
              <a:buChar char="•"/>
            </a:pPr>
            <a:r>
              <a:rPr lang="en-US" sz="1200" dirty="0">
                <a:solidFill>
                  <a:srgbClr val="1F2937"/>
                </a:solidFill>
              </a:rPr>
              <a:t>SVR training 56 s vs 0.2 s for Linear (7 buildings)</a:t>
            </a:r>
            <a:endParaRPr lang="en-US" sz="1200" dirty="0"/>
          </a:p>
          <a:p>
            <a:pPr marL="342900" indent="-342900">
              <a:spcAft>
                <a:spcPts val="500"/>
              </a:spcAft>
              <a:buSzPct val="100000"/>
              <a:buChar char="•"/>
            </a:pPr>
            <a:r>
              <a:rPr lang="en-US" sz="1200" dirty="0">
                <a:solidFill>
                  <a:srgbClr val="1F2937"/>
                </a:solidFill>
              </a:rPr>
              <a:t>Full original test period: Linear Regression ranks first (confounded by the break)</a:t>
            </a:r>
            <a:endParaRPr lang="en-US" sz="12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Per building results and role of occupancy</a:t>
            </a:r>
            <a:endParaRPr lang="en-US" sz="2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4754880" cy="914400"/>
        </p:xfrm>
        <a:graphic>
          <a:graphicData uri="http://schemas.openxmlformats.org/drawingml/2006/table">
            <a:tbl>
              <a:tblPr/>
              <a:tblGrid>
                <a:gridCol w="1280160"/>
                <a:gridCol w="868680"/>
                <a:gridCol w="868680"/>
                <a:gridCol w="868680"/>
                <a:gridCol w="868680"/>
              </a:tblGrid>
              <a:tr h="329184">
                <a:tc>
                  <a:txBody>
                    <a:bodyPr/>
                    <a:lstStyle/>
                    <a:p>
                      <a:pPr algn="ctr" indent="0" marL="0">
                        <a:buNone/>
                      </a:pPr>
                      <a:r>
                        <a:rPr lang="en-US" sz="1000" b="1" dirty="0">
                          <a:solidFill>
                            <a:srgbClr val="FFFFFF"/>
                          </a:solidFill>
                        </a:rPr>
                        <a:t>R2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SVR val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SVR test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Linear val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algn="ctr" indent="0" marL="0">
                        <a:buNone/>
                      </a:pPr>
                      <a:r>
                        <a:rPr lang="en-US" sz="1000" b="1" dirty="0">
                          <a:solidFill>
                            <a:srgbClr val="FFFFFF"/>
                          </a:solidFill>
                        </a:rPr>
                        <a:t>Linear test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r>
              <a:tr h="329184">
                <a:tc>
                  <a:txBody>
                    <a:bodyPr/>
                    <a:lstStyle/>
                    <a:p>
                      <a:pPr indent="0" marL="0">
                        <a:buNone/>
                      </a:pPr>
                      <a:r>
                        <a:rPr lang="en-US" sz="1000" dirty="0">
                          <a:solidFill>
                            <a:srgbClr val="1F2937"/>
                          </a:solidFill>
                        </a:rPr>
                        <a:t>Academic</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0.960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0.956</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0.936</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0.928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Boys Hostel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0.852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0.814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0.844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0.821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Facilities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0.910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0.910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0.897</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0.890</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Girls Hostel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0.831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0.776</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0.848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0.799</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Lecture</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0.915</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0.744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0.878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0.793</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Library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0.933</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0.938</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0.906</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0.892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00" dirty="0">
                          <a:solidFill>
                            <a:srgbClr val="1F2937"/>
                          </a:solidFill>
                        </a:rPr>
                        <a:t>Mess (Dining)</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0.842</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0.811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0.834</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r" indent="0" marL="0">
                        <a:buNone/>
                      </a:pPr>
                      <a:r>
                        <a:rPr lang="en-US" sz="1000" dirty="0">
                          <a:solidFill>
                            <a:srgbClr val="1F2937"/>
                          </a:solidFill>
                        </a:rPr>
                        <a:t>0.791</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5394960" y="1005840"/>
            <a:ext cx="3383280" cy="3657600"/>
          </a:xfrm>
          <a:prstGeom prst="rect">
            <a:avLst/>
          </a:prstGeom>
          <a:noFill/>
          <a:ln/>
        </p:spPr>
        <p:txBody>
          <a:bodyPr wrap="square" lIns="508" tIns="508" rIns="508" bIns="508" rtlCol="0" anchor="t"/>
          <a:lstStyle/>
          <a:p>
            <a:pPr marL="342900" indent="-342900">
              <a:spcAft>
                <a:spcPts val="500"/>
              </a:spcAft>
              <a:buSzPct val="100000"/>
              <a:buChar char="•"/>
            </a:pPr>
            <a:r>
              <a:rPr lang="en-US" sz="1250" dirty="0">
                <a:solidFill>
                  <a:srgbClr val="1F2937"/>
                </a:solidFill>
              </a:rPr>
              <a:t>Energy-only vs energy + lagged occupancy (matched rows): SVR 0.379 vs 0.382 on test; KNN 0.447 vs 0.464</a:t>
            </a:r>
            <a:endParaRPr lang="en-US" sz="1250" dirty="0"/>
          </a:p>
          <a:p>
            <a:pPr marL="342900" indent="-342900">
              <a:spcAft>
                <a:spcPts val="500"/>
              </a:spcAft>
              <a:buSzPct val="100000"/>
              <a:buChar char="•"/>
            </a:pPr>
            <a:r>
              <a:rPr lang="en-US" sz="1250" dirty="0">
                <a:solidFill>
                  <a:srgbClr val="1F2937"/>
                </a:solidFill>
              </a:rPr>
              <a:t>Lagged power already carries the occupancy-driven pattern</a:t>
            </a:r>
            <a:endParaRPr lang="en-US" sz="1250" dirty="0"/>
          </a:p>
          <a:p>
            <a:pPr marL="342900" indent="-342900">
              <a:spcAft>
                <a:spcPts val="500"/>
              </a:spcAft>
              <a:buSzPct val="100000"/>
              <a:buChar char="•"/>
            </a:pPr>
            <a:r>
              <a:rPr lang="en-US" sz="1250" dirty="0">
                <a:solidFill>
                  <a:srgbClr val="1F2937"/>
                </a:solidFill>
              </a:rPr>
              <a:t>Lecture: 82.5% of minutes at exactly 0 W (79.3% of hours), seasonal and long runs; zeros kept, not removed</a:t>
            </a:r>
            <a:endParaRPr lang="en-US" sz="1250" dirty="0"/>
          </a:p>
          <a:p>
            <a:pPr marL="342900" indent="-342900">
              <a:spcAft>
                <a:spcPts val="500"/>
              </a:spcAft>
              <a:buSzPct val="100000"/>
              <a:buChar char="•"/>
            </a:pPr>
            <a:r>
              <a:rPr lang="en-US" sz="1250" dirty="0">
                <a:solidFill>
                  <a:srgbClr val="1F2937"/>
                </a:solidFill>
              </a:rPr>
              <a:t>Lecture mixes an off and an on regime: R2 is driven by on/off transitions; results reported separately</a:t>
            </a:r>
            <a:endParaRPr lang="en-US" sz="12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Timestamp discontinuity from July 2017 (unresolved)</a:t>
            </a:r>
            <a:endParaRPr lang="en-US" sz="2100" dirty="0"/>
          </a:p>
        </p:txBody>
      </p:sp>
      <p:pic>
        <p:nvPicPr>
          <p:cNvPr id="4" name="Image 0" descr="Weekday profiles before and after the break">    </p:cNvPr>
          <p:cNvPicPr>
            <a:picLocks noChangeAspect="1"/>
          </p:cNvPicPr>
          <p:nvPr/>
        </p:nvPicPr>
        <p:blipFill>
          <a:blip r:embed="rId1"/>
          <a:stretch>
            <a:fillRect/>
          </a:stretch>
        </p:blipFill>
        <p:spPr>
          <a:xfrm>
            <a:off x="522830" y="960120"/>
            <a:ext cx="8098339" cy="2331720"/>
          </a:xfrm>
          <a:prstGeom prst="rect">
            <a:avLst/>
          </a:prstGeom>
        </p:spPr>
      </p:pic>
      <p:sp>
        <p:nvSpPr>
          <p:cNvPr id="5" name="Text 1"/>
          <p:cNvSpPr txBox="1"/>
          <p:nvPr/>
        </p:nvSpPr>
        <p:spPr>
          <a:xfrm>
            <a:off x="411480" y="3383280"/>
            <a:ext cx="8321040" cy="1463040"/>
          </a:xfrm>
          <a:prstGeom prst="rect">
            <a:avLst/>
          </a:prstGeom>
          <a:noFill/>
          <a:ln/>
        </p:spPr>
        <p:txBody>
          <a:bodyPr wrap="square" lIns="508" tIns="508" rIns="508" bIns="508" rtlCol="0" anchor="t"/>
          <a:lstStyle/>
          <a:p>
            <a:pPr marL="342900" indent="-342900">
              <a:spcAft>
                <a:spcPts val="500"/>
              </a:spcAft>
              <a:buSzPct val="100000"/>
              <a:buChar char="•"/>
            </a:pPr>
            <a:r>
              <a:rPr lang="en-US" sz="1150" dirty="0">
                <a:solidFill>
                  <a:srgbClr val="1F2937"/>
                </a:solidFill>
              </a:rPr>
              <a:t>Monthly profile alignment: about 0 h until June 2017, 4-6 h in July-December 2017, all buildings</a:t>
            </a:r>
            <a:endParaRPr lang="en-US" sz="1150" dirty="0"/>
          </a:p>
          <a:p>
            <a:pPr marL="342900" indent="-342900">
              <a:spcAft>
                <a:spcPts val="500"/>
              </a:spcAft>
              <a:buSzPct val="100000"/>
              <a:buChar char="•"/>
            </a:pPr>
            <a:r>
              <a:rPr lang="en-US" sz="1150" dirty="0">
                <a:solidFill>
                  <a:srgbClr val="1F2937"/>
                </a:solidFill>
              </a:rPr>
              <a:t>Against occupancy the best energy offset is 0-70 min before and 250-330 min after the break; not identical across buildings, so no exact correction can be justified</a:t>
            </a:r>
            <a:endParaRPr lang="en-US" sz="1150" dirty="0"/>
          </a:p>
          <a:p>
            <a:pPr marL="342900" indent="-342900">
              <a:spcAft>
                <a:spcPts val="500"/>
              </a:spcAft>
              <a:buSzPct val="100000"/>
              <a:buChar char="•"/>
            </a:pPr>
            <a:r>
              <a:rPr lang="en-US" sz="1150" dirty="0">
                <a:solidFill>
                  <a:srgbClr val="1F2937"/>
                </a:solidFill>
              </a:rPr>
              <a:t>Raw data untouched. Primary test ends 2017-07-07; later rows reported only as sensitivity</a:t>
            </a:r>
            <a:endParaRPr lang="en-US" sz="1150" dirty="0"/>
          </a:p>
          <a:p>
            <a:pPr marL="342900" indent="-342900">
              <a:spcAft>
                <a:spcPts val="500"/>
              </a:spcAft>
              <a:buSzPct val="100000"/>
              <a:buChar char="•"/>
            </a:pPr>
            <a:r>
              <a:rPr lang="en-US" sz="1150" dirty="0">
                <a:solidFill>
                  <a:srgbClr val="1F2937"/>
                </a:solidFill>
              </a:rPr>
              <a:t>SVR macro nRMSE rises from 0.382 (before) to 0.503 (after the break)</a:t>
            </a:r>
            <a:endParaRPr lang="en-US" sz="11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Residual-based anomaly detection</a:t>
            </a:r>
            <a:endParaRPr lang="en-US" sz="2100" dirty="0"/>
          </a:p>
        </p:txBody>
      </p:sp>
      <p:sp>
        <p:nvSpPr>
          <p:cNvPr id="4" name="Text 1"/>
          <p:cNvSpPr txBox="1"/>
          <p:nvPr/>
        </p:nvSpPr>
        <p:spPr>
          <a:xfrm>
            <a:off x="411480" y="1005840"/>
            <a:ext cx="3383280" cy="3749040"/>
          </a:xfrm>
          <a:prstGeom prst="rect">
            <a:avLst/>
          </a:prstGeom>
          <a:noFill/>
          <a:ln/>
        </p:spPr>
        <p:txBody>
          <a:bodyPr wrap="square" lIns="508" tIns="508" rIns="508" bIns="508" rtlCol="0" anchor="t"/>
          <a:lstStyle/>
          <a:p>
            <a:pPr marL="342900" indent="-342900">
              <a:spcAft>
                <a:spcPts val="500"/>
              </a:spcAft>
              <a:buSzPct val="100000"/>
              <a:buChar char="•"/>
            </a:pPr>
            <a:r>
              <a:rPr lang="en-US" sz="1200" dirty="0">
                <a:solidFill>
                  <a:srgbClr val="1F2937"/>
                </a:solidFill>
              </a:rPr>
              <a:t>Residual = actual - expected (SVR, primary features)</a:t>
            </a:r>
            <a:endParaRPr lang="en-US" sz="1200" dirty="0"/>
          </a:p>
          <a:p>
            <a:pPr marL="342900" indent="-342900">
              <a:spcAft>
                <a:spcPts val="500"/>
              </a:spcAft>
              <a:buSzPct val="100000"/>
              <a:buChar char="•"/>
            </a:pPr>
            <a:r>
              <a:rPr lang="en-US" sz="1200" dirty="0">
                <a:solidFill>
                  <a:srgbClr val="1F2937"/>
                </a:solidFill>
              </a:rPr>
              <a:t>Flag if |modified z| &gt; 3.5; median and MAD from validation residuals per building, day-part and regime</a:t>
            </a:r>
            <a:endParaRPr lang="en-US" sz="1200" dirty="0"/>
          </a:p>
          <a:p>
            <a:pPr marL="342900" indent="-342900">
              <a:spcAft>
                <a:spcPts val="500"/>
              </a:spcAft>
              <a:buSzPct val="100000"/>
              <a:buChar char="•"/>
            </a:pPr>
            <a:r>
              <a:rPr lang="en-US" sz="1200" dirty="0">
                <a:solidFill>
                  <a:srgbClr val="1F2937"/>
                </a:solidFill>
              </a:rPr>
              <a:t>Validation 3.0% flagged; primary test 3.7% (747 hours); after the break 12.3% (timestamp effect)</a:t>
            </a:r>
            <a:endParaRPr lang="en-US" sz="1200" dirty="0"/>
          </a:p>
          <a:p>
            <a:pPr marL="342900" indent="-342900">
              <a:spcAft>
                <a:spcPts val="500"/>
              </a:spcAft>
              <a:buSzPct val="100000"/>
              <a:buChar char="•"/>
            </a:pPr>
            <a:r>
              <a:rPr lang="en-US" sz="1200" dirty="0">
                <a:solidFill>
                  <a:srgbClr val="1F2937"/>
                </a:solidFill>
              </a:rPr>
              <a:t>With vs without occupancy: flags overlap strongly (Jaccard 0.80); SVR vs Linear overlap less (0.51)</a:t>
            </a:r>
            <a:endParaRPr lang="en-US" sz="1200" dirty="0"/>
          </a:p>
          <a:p>
            <a:pPr marL="342900" indent="-342900">
              <a:spcAft>
                <a:spcPts val="500"/>
              </a:spcAft>
              <a:buSzPct val="100000"/>
              <a:buChar char="•"/>
            </a:pPr>
            <a:r>
              <a:rPr lang="en-US" sz="1200" dirty="0">
                <a:solidFill>
                  <a:srgbClr val="1F2937"/>
                </a:solidFill>
              </a:rPr>
              <a:t>Output = potential anomalous consumption periods, not diagnosed faults</a:t>
            </a:r>
            <a:endParaRPr lang="en-US" sz="1200" dirty="0"/>
          </a:p>
        </p:txBody>
      </p:sp>
      <p:pic>
        <p:nvPicPr>
          <p:cNvPr id="5" name="Image 0" descr="Monthly share of flagged hours">    </p:cNvPr>
          <p:cNvPicPr>
            <a:picLocks noChangeAspect="1"/>
          </p:cNvPicPr>
          <p:nvPr/>
        </p:nvPicPr>
        <p:blipFill>
          <a:blip r:embed="rId1"/>
          <a:stretch>
            <a:fillRect/>
          </a:stretch>
        </p:blipFill>
        <p:spPr>
          <a:xfrm>
            <a:off x="3931920" y="1686778"/>
            <a:ext cx="4846320" cy="2112844"/>
          </a:xfrm>
          <a:prstGeom prst="rect">
            <a:avLst/>
          </a:prstGeom>
        </p:spPr>
      </p:pic>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PCA and K-Means (exploratory)</a:t>
            </a:r>
            <a:endParaRPr lang="en-US" sz="2100" dirty="0"/>
          </a:p>
        </p:txBody>
      </p:sp>
      <p:pic>
        <p:nvPicPr>
          <p:cNvPr id="4" name="Image 0" descr="PCA">    </p:cNvPr>
          <p:cNvPicPr>
            <a:picLocks noChangeAspect="1"/>
          </p:cNvPicPr>
          <p:nvPr/>
        </p:nvPicPr>
        <p:blipFill>
          <a:blip r:embed="rId1"/>
          <a:stretch>
            <a:fillRect/>
          </a:stretch>
        </p:blipFill>
        <p:spPr>
          <a:xfrm>
            <a:off x="411480" y="1026878"/>
            <a:ext cx="5577840" cy="1603845"/>
          </a:xfrm>
          <a:prstGeom prst="rect">
            <a:avLst/>
          </a:prstGeom>
        </p:spPr>
      </p:pic>
      <p:pic>
        <p:nvPicPr>
          <p:cNvPr id="5" name="Image 1" descr="K-Means without Lecture">    </p:cNvPr>
          <p:cNvPicPr>
            <a:picLocks noChangeAspect="1"/>
          </p:cNvPicPr>
          <p:nvPr/>
        </p:nvPicPr>
        <p:blipFill>
          <a:blip r:embed="rId2"/>
          <a:stretch>
            <a:fillRect/>
          </a:stretch>
        </p:blipFill>
        <p:spPr>
          <a:xfrm>
            <a:off x="411480" y="2885555"/>
            <a:ext cx="5577840" cy="1544089"/>
          </a:xfrm>
          <a:prstGeom prst="rect">
            <a:avLst/>
          </a:prstGeom>
        </p:spPr>
      </p:pic>
      <p:sp>
        <p:nvSpPr>
          <p:cNvPr id="6" name="Text 1"/>
          <p:cNvSpPr txBox="1"/>
          <p:nvPr/>
        </p:nvSpPr>
        <p:spPr>
          <a:xfrm>
            <a:off x="6126480" y="960120"/>
            <a:ext cx="2651760" cy="3749040"/>
          </a:xfrm>
          <a:prstGeom prst="rect">
            <a:avLst/>
          </a:prstGeom>
          <a:noFill/>
          <a:ln/>
        </p:spPr>
        <p:txBody>
          <a:bodyPr wrap="square" lIns="508" tIns="508" rIns="508" bIns="508" rtlCol="0" anchor="t"/>
          <a:lstStyle/>
          <a:p>
            <a:pPr marL="342900" indent="-342900">
              <a:spcAft>
                <a:spcPts val="500"/>
              </a:spcAft>
              <a:buSzPct val="100000"/>
              <a:buChar char="•"/>
            </a:pPr>
            <a:r>
              <a:rPr lang="en-US" sz="1050" dirty="0">
                <a:solidFill>
                  <a:srgbClr val="1F2937"/>
                </a:solidFill>
              </a:rPr>
              <a:t>PC1-PC3 explain 37.5%, 16.9%, 14.5%; 7 components for 90%</a:t>
            </a:r>
            <a:endParaRPr lang="en-US" sz="1050" dirty="0"/>
          </a:p>
          <a:p>
            <a:pPr marL="342900" indent="-342900">
              <a:spcAft>
                <a:spcPts val="500"/>
              </a:spcAft>
              <a:buSzPct val="100000"/>
              <a:buChar char="•"/>
            </a:pPr>
            <a:r>
              <a:rPr lang="en-US" sz="1050" dirty="0">
                <a:solidFill>
                  <a:srgbClr val="1F2937"/>
                </a:solidFill>
              </a:rPr>
              <a:t>PC1: lagged power and occupancy level; PC2: calendar regime</a:t>
            </a:r>
            <a:endParaRPr lang="en-US" sz="1050" dirty="0"/>
          </a:p>
          <a:p>
            <a:pPr marL="342900" indent="-342900">
              <a:spcAft>
                <a:spcPts val="500"/>
              </a:spcAft>
              <a:buSzPct val="100000"/>
              <a:buChar char="•"/>
            </a:pPr>
            <a:r>
              <a:rPr lang="en-US" sz="1050" dirty="0">
                <a:solidFill>
                  <a:srgbClr val="1F2937"/>
                </a:solidFill>
              </a:rPr>
              <a:t>K-Means, seven buildings: K=3 (silhouette 0.71), two of three clusters are Lecture-only</a:t>
            </a:r>
            <a:endParaRPr lang="en-US" sz="1050" dirty="0"/>
          </a:p>
          <a:p>
            <a:pPr marL="342900" indent="-342900">
              <a:spcAft>
                <a:spcPts val="500"/>
              </a:spcAft>
              <a:buSzPct val="100000"/>
              <a:buChar char="•"/>
            </a:pPr>
            <a:r>
              <a:rPr lang="en-US" sz="1050" dirty="0">
                <a:solidFill>
                  <a:srgbClr val="1F2937"/>
                </a:solidFill>
              </a:rPr>
              <a:t>Without Lecture: K=2 (silhouette 0.35): weekday daytime-heavy days vs flatter low-load days</a:t>
            </a:r>
            <a:endParaRPr lang="en-US" sz="1050" dirty="0"/>
          </a:p>
          <a:p>
            <a:pPr marL="342900" indent="-342900">
              <a:spcAft>
                <a:spcPts val="500"/>
              </a:spcAft>
              <a:buSzPct val="100000"/>
              <a:buChar char="•"/>
            </a:pPr>
            <a:r>
              <a:rPr lang="en-US" sz="1050" dirty="0">
                <a:solidFill>
                  <a:srgbClr val="1F2937"/>
                </a:solidFill>
              </a:rPr>
              <a:t>Clusters are descriptive; no efficiency labels</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164592"/>
            <a:ext cx="8321040" cy="658368"/>
          </a:xfrm>
          <a:prstGeom prst="rect">
            <a:avLst/>
          </a:prstGeom>
          <a:noFill/>
          <a:ln/>
        </p:spPr>
        <p:txBody>
          <a:bodyPr wrap="square" lIns="0" tIns="0" rIns="0" bIns="0" rtlCol="0" anchor="ctr">
            <a:normAutofit/>
          </a:bodyPr>
          <a:lstStyle/>
          <a:p>
            <a:pPr indent="0" marL="0">
              <a:buNone/>
            </a:pPr>
            <a:r>
              <a:rPr lang="en-US" sz="2100" b="1" dirty="0">
                <a:solidFill>
                  <a:srgbClr val="1F3A5F"/>
                </a:solidFill>
              </a:rPr>
              <a:t>Dashboard, limitations and conclusion</a:t>
            </a:r>
            <a:endParaRPr lang="en-US" sz="2100" dirty="0"/>
          </a:p>
        </p:txBody>
      </p:sp>
      <p:sp>
        <p:nvSpPr>
          <p:cNvPr id="4" name="Text 1"/>
          <p:cNvSpPr txBox="1"/>
          <p:nvPr/>
        </p:nvSpPr>
        <p:spPr>
          <a:xfrm>
            <a:off x="411480" y="1005840"/>
            <a:ext cx="2651760" cy="274320"/>
          </a:xfrm>
          <a:prstGeom prst="rect">
            <a:avLst/>
          </a:prstGeom>
          <a:noFill/>
          <a:ln/>
        </p:spPr>
        <p:txBody>
          <a:bodyPr wrap="square" lIns="0" tIns="0" rIns="0" bIns="0" rtlCol="0" anchor="ctr"/>
          <a:lstStyle/>
          <a:p>
            <a:pPr indent="0" marL="0">
              <a:buNone/>
            </a:pPr>
            <a:r>
              <a:rPr lang="en-US" sz="1300" b="1" dirty="0">
                <a:solidFill>
                  <a:srgbClr val="0072B2"/>
                </a:solidFill>
              </a:rPr>
              <a:t>Dashboard (Streamlit)</a:t>
            </a:r>
            <a:endParaRPr lang="en-US" sz="1300" dirty="0"/>
          </a:p>
        </p:txBody>
      </p:sp>
      <p:sp>
        <p:nvSpPr>
          <p:cNvPr id="5" name="Text 2"/>
          <p:cNvSpPr txBox="1"/>
          <p:nvPr/>
        </p:nvSpPr>
        <p:spPr>
          <a:xfrm>
            <a:off x="411480" y="1325880"/>
            <a:ext cx="2651760" cy="3383280"/>
          </a:xfrm>
          <a:prstGeom prst="rect">
            <a:avLst/>
          </a:prstGeom>
          <a:noFill/>
          <a:ln/>
        </p:spPr>
        <p:txBody>
          <a:bodyPr wrap="square" lIns="508" tIns="508" rIns="508" bIns="508" rtlCol="0" anchor="t"/>
          <a:lstStyle/>
          <a:p>
            <a:pPr marL="342900" indent="-342900">
              <a:spcAft>
                <a:spcPts val="500"/>
              </a:spcAft>
              <a:buSzPct val="100000"/>
              <a:buChar char="•"/>
            </a:pPr>
            <a:r>
              <a:rPr lang="en-US" sz="1150" dirty="0">
                <a:solidFill>
                  <a:srgbClr val="1F2937"/>
                </a:solidFill>
              </a:rPr>
              <a:t>Filters: building, model, feature set, dates</a:t>
            </a:r>
            <a:endParaRPr lang="en-US" sz="1150" dirty="0"/>
          </a:p>
          <a:p>
            <a:pPr marL="342900" indent="-342900">
              <a:spcAft>
                <a:spcPts val="500"/>
              </a:spcAft>
              <a:buSzPct val="100000"/>
              <a:buChar char="•"/>
            </a:pPr>
            <a:r>
              <a:rPr lang="en-US" sz="1150" dirty="0">
                <a:solidFill>
                  <a:srgbClr val="1F2937"/>
                </a:solidFill>
              </a:rPr>
              <a:t>Actual vs expected power, metrics, anomaly timeline and events</a:t>
            </a:r>
            <a:endParaRPr lang="en-US" sz="1150" dirty="0"/>
          </a:p>
          <a:p>
            <a:pPr marL="342900" indent="-342900">
              <a:spcAft>
                <a:spcPts val="500"/>
              </a:spcAft>
              <a:buSzPct val="100000"/>
              <a:buChar char="•"/>
            </a:pPr>
            <a:r>
              <a:rPr lang="en-US" sz="1150" dirty="0">
                <a:solidFill>
                  <a:srgbClr val="1F2937"/>
                </a:solidFill>
              </a:rPr>
              <a:t>CSV export of selection and events</a:t>
            </a:r>
            <a:endParaRPr lang="en-US" sz="1150" dirty="0"/>
          </a:p>
          <a:p>
            <a:pPr marL="342900" indent="-342900">
              <a:spcAft>
                <a:spcPts val="500"/>
              </a:spcAft>
              <a:buSzPct val="100000"/>
              <a:buChar char="•"/>
            </a:pPr>
            <a:r>
              <a:rPr lang="en-US" sz="1150" dirty="0">
                <a:solidFill>
                  <a:srgbClr val="1F2937"/>
                </a:solidFill>
              </a:rPr>
              <a:t>Banner states timestamp issue and that flags are not faults</a:t>
            </a:r>
            <a:endParaRPr lang="en-US" sz="1150" dirty="0"/>
          </a:p>
          <a:p>
            <a:pPr marL="342900" indent="-342900">
              <a:spcAft>
                <a:spcPts val="500"/>
              </a:spcAft>
              <a:buSzPct val="100000"/>
              <a:buChar char="•"/>
            </a:pPr>
            <a:r>
              <a:rPr lang="en-US" sz="1150" dirty="0">
                <a:solidFill>
                  <a:srgbClr val="1F2937"/>
                </a:solidFill>
              </a:rPr>
              <a:t>Batch viewer of saved results, not real-time</a:t>
            </a:r>
            <a:endParaRPr lang="en-US" sz="1150" dirty="0"/>
          </a:p>
        </p:txBody>
      </p:sp>
      <p:sp>
        <p:nvSpPr>
          <p:cNvPr id="6" name="Text 3"/>
          <p:cNvSpPr txBox="1"/>
          <p:nvPr/>
        </p:nvSpPr>
        <p:spPr>
          <a:xfrm>
            <a:off x="3246120" y="1005840"/>
            <a:ext cx="2651760" cy="274320"/>
          </a:xfrm>
          <a:prstGeom prst="rect">
            <a:avLst/>
          </a:prstGeom>
          <a:noFill/>
          <a:ln/>
        </p:spPr>
        <p:txBody>
          <a:bodyPr wrap="square" lIns="0" tIns="0" rIns="0" bIns="0" rtlCol="0" anchor="ctr"/>
          <a:lstStyle/>
          <a:p>
            <a:pPr indent="0" marL="0">
              <a:buNone/>
            </a:pPr>
            <a:r>
              <a:rPr lang="en-US" sz="1300" b="1" dirty="0">
                <a:solidFill>
                  <a:srgbClr val="D55E00"/>
                </a:solidFill>
              </a:rPr>
              <a:t>Limitations</a:t>
            </a:r>
            <a:endParaRPr lang="en-US" sz="1300" dirty="0"/>
          </a:p>
        </p:txBody>
      </p:sp>
      <p:sp>
        <p:nvSpPr>
          <p:cNvPr id="7" name="Text 4"/>
          <p:cNvSpPr txBox="1"/>
          <p:nvPr/>
        </p:nvSpPr>
        <p:spPr>
          <a:xfrm>
            <a:off x="3246120" y="1325880"/>
            <a:ext cx="2651760" cy="3383280"/>
          </a:xfrm>
          <a:prstGeom prst="rect">
            <a:avLst/>
          </a:prstGeom>
          <a:noFill/>
          <a:ln/>
        </p:spPr>
        <p:txBody>
          <a:bodyPr wrap="square" lIns="508" tIns="508" rIns="508" bIns="508" rtlCol="0" anchor="t"/>
          <a:lstStyle/>
          <a:p>
            <a:pPr marL="342900" indent="-342900">
              <a:spcAft>
                <a:spcPts val="500"/>
              </a:spcAft>
              <a:buSzPct val="100000"/>
              <a:buChar char="•"/>
            </a:pPr>
            <a:r>
              <a:rPr lang="en-US" sz="1150" dirty="0">
                <a:solidFill>
                  <a:srgbClr val="1F2937"/>
                </a:solidFill>
              </a:rPr>
              <a:t>Timestamps from July 2017 displaced (unresolved)</a:t>
            </a:r>
            <a:endParaRPr lang="en-US" sz="1150" dirty="0"/>
          </a:p>
          <a:p>
            <a:pPr marL="342900" indent="-342900">
              <a:spcAft>
                <a:spcPts val="500"/>
              </a:spcAft>
              <a:buSzPct val="100000"/>
              <a:buChar char="•"/>
            </a:pPr>
            <a:r>
              <a:rPr lang="en-US" sz="1150" dirty="0">
                <a:solidFill>
                  <a:srgbClr val="1F2937"/>
                </a:solidFill>
              </a:rPr>
              <a:t>No ground truth for anomalies</a:t>
            </a:r>
            <a:endParaRPr lang="en-US" sz="1150" dirty="0"/>
          </a:p>
          <a:p>
            <a:pPr marL="342900" indent="-342900">
              <a:spcAft>
                <a:spcPts val="500"/>
              </a:spcAft>
              <a:buSzPct val="100000"/>
              <a:buChar char="•"/>
            </a:pPr>
            <a:r>
              <a:rPr lang="en-US" sz="1150" dirty="0">
                <a:solidFill>
                  <a:srgbClr val="1F2937"/>
                </a:solidFill>
              </a:rPr>
              <a:t>Occupancy is a Wi-Fi proxy; absent values not read as zero</a:t>
            </a:r>
            <a:endParaRPr lang="en-US" sz="1150" dirty="0"/>
          </a:p>
          <a:p>
            <a:pPr marL="342900" indent="-342900">
              <a:spcAft>
                <a:spcPts val="500"/>
              </a:spcAft>
              <a:buSzPct val="100000"/>
              <a:buChar char="•"/>
            </a:pPr>
            <a:r>
              <a:rPr lang="en-US" sz="1150" dirty="0">
                <a:solidFill>
                  <a:srgbClr val="1F2937"/>
                </a:solidFill>
              </a:rPr>
              <a:t>Lecture is zero-inflated; weather unavailable</a:t>
            </a:r>
            <a:endParaRPr lang="en-US" sz="1150" dirty="0"/>
          </a:p>
          <a:p>
            <a:pPr marL="342900" indent="-342900">
              <a:spcAft>
                <a:spcPts val="500"/>
              </a:spcAft>
              <a:buSzPct val="100000"/>
              <a:buChar char="•"/>
            </a:pPr>
            <a:r>
              <a:rPr lang="en-US" sz="1150" dirty="0">
                <a:solidFill>
                  <a:srgbClr val="1F2937"/>
                </a:solidFill>
              </a:rPr>
              <a:t>SVR vs Linear margin small; SVR grid edge</a:t>
            </a:r>
            <a:endParaRPr lang="en-US" sz="1150" dirty="0"/>
          </a:p>
          <a:p>
            <a:pPr marL="342900" indent="-342900">
              <a:spcAft>
                <a:spcPts val="500"/>
              </a:spcAft>
              <a:buSzPct val="100000"/>
              <a:buChar char="•"/>
            </a:pPr>
            <a:r>
              <a:rPr lang="en-US" sz="1150" dirty="0">
                <a:solidFill>
                  <a:srgbClr val="1F2937"/>
                </a:solidFill>
              </a:rPr>
              <a:t>One campus only</a:t>
            </a:r>
            <a:endParaRPr lang="en-US" sz="1150" dirty="0"/>
          </a:p>
        </p:txBody>
      </p:sp>
      <p:sp>
        <p:nvSpPr>
          <p:cNvPr id="8" name="Text 5"/>
          <p:cNvSpPr txBox="1"/>
          <p:nvPr/>
        </p:nvSpPr>
        <p:spPr>
          <a:xfrm>
            <a:off x="6080760" y="1005840"/>
            <a:ext cx="2651760" cy="274320"/>
          </a:xfrm>
          <a:prstGeom prst="rect">
            <a:avLst/>
          </a:prstGeom>
          <a:noFill/>
          <a:ln/>
        </p:spPr>
        <p:txBody>
          <a:bodyPr wrap="square" lIns="0" tIns="0" rIns="0" bIns="0" rtlCol="0" anchor="ctr"/>
          <a:lstStyle/>
          <a:p>
            <a:pPr indent="0" marL="0">
              <a:buNone/>
            </a:pPr>
            <a:r>
              <a:rPr lang="en-US" sz="1300" b="1" dirty="0">
                <a:solidFill>
                  <a:srgbClr val="009E73"/>
                </a:solidFill>
              </a:rPr>
              <a:t>Conclusion and next steps</a:t>
            </a:r>
            <a:endParaRPr lang="en-US" sz="1300" dirty="0"/>
          </a:p>
        </p:txBody>
      </p:sp>
      <p:sp>
        <p:nvSpPr>
          <p:cNvPr id="9" name="Text 6"/>
          <p:cNvSpPr txBox="1"/>
          <p:nvPr/>
        </p:nvSpPr>
        <p:spPr>
          <a:xfrm>
            <a:off x="6080760" y="1325880"/>
            <a:ext cx="2651760" cy="3383280"/>
          </a:xfrm>
          <a:prstGeom prst="rect">
            <a:avLst/>
          </a:prstGeom>
          <a:noFill/>
          <a:ln/>
        </p:spPr>
        <p:txBody>
          <a:bodyPr wrap="square" lIns="508" tIns="508" rIns="508" bIns="508" rtlCol="0" anchor="t"/>
          <a:lstStyle/>
          <a:p>
            <a:pPr marL="342900" indent="-342900">
              <a:spcAft>
                <a:spcPts val="500"/>
              </a:spcAft>
              <a:buSzPct val="100000"/>
              <a:buChar char="•"/>
            </a:pPr>
            <a:r>
              <a:rPr lang="en-US" sz="1150" dirty="0">
                <a:solidFill>
                  <a:srgbClr val="1F2937"/>
                </a:solidFill>
              </a:rPr>
              <a:t>SVR selected on validation; best on primary test</a:t>
            </a:r>
            <a:endParaRPr lang="en-US" sz="1150" dirty="0"/>
          </a:p>
          <a:p>
            <a:pPr marL="342900" indent="-342900">
              <a:spcAft>
                <a:spcPts val="500"/>
              </a:spcAft>
              <a:buSzPct val="100000"/>
              <a:buChar char="•"/>
            </a:pPr>
            <a:r>
              <a:rPr lang="en-US" sz="1150" dirty="0">
                <a:solidFill>
                  <a:srgbClr val="1F2937"/>
                </a:solidFill>
              </a:rPr>
              <a:t>Lagged occupancy adds no predictive skill here</a:t>
            </a:r>
            <a:endParaRPr lang="en-US" sz="1150" dirty="0"/>
          </a:p>
          <a:p>
            <a:pPr marL="342900" indent="-342900">
              <a:spcAft>
                <a:spcPts val="500"/>
              </a:spcAft>
              <a:buSzPct val="100000"/>
              <a:buChar char="•"/>
            </a:pPr>
            <a:r>
              <a:rPr lang="en-US" sz="1150" dirty="0">
                <a:solidFill>
                  <a:srgbClr val="1F2937"/>
                </a:solidFill>
              </a:rPr>
              <a:t>Anomaly flags transfer to test with similar rate</a:t>
            </a:r>
            <a:endParaRPr lang="en-US" sz="1150" dirty="0"/>
          </a:p>
          <a:p>
            <a:pPr marL="342900" indent="-342900">
              <a:spcAft>
                <a:spcPts val="500"/>
              </a:spcAft>
              <a:buSzPct val="100000"/>
              <a:buChar char="•"/>
            </a:pPr>
            <a:r>
              <a:rPr lang="en-US" sz="1150" dirty="0">
                <a:solidFill>
                  <a:srgbClr val="1F2937"/>
                </a:solidFill>
              </a:rPr>
              <a:t>Next: resolve the timestamp issue with the data authors, re-evaluate, regime-aware Lecture model, validate flags against maintenance records</a:t>
            </a:r>
            <a:endParaRPr lang="en-US" sz="11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mpusEnergy">
  <a:themeElements>
    <a:clrScheme name="CampusEnergy">
      <a:dk1>
        <a:srgbClr val="1F2937"/>
      </a:dk1>
      <a:lt1>
        <a:srgbClr val="FFFFFF"/>
      </a:lt1>
      <a:dk2>
        <a:srgbClr val="1F3A5F"/>
      </a:dk2>
      <a:lt2>
        <a:srgbClr val="F3F4F6"/>
      </a:lt2>
      <a:accent1>
        <a:srgbClr val="0072B2"/>
      </a:accent1>
      <a:accent2>
        <a:srgbClr val="D55E00"/>
      </a:accent2>
      <a:accent3>
        <a:srgbClr val="009E73"/>
      </a:accent3>
      <a:accent4>
        <a:srgbClr val="E69F00"/>
      </a:accent4>
      <a:accent5>
        <a:srgbClr val="CC79A7"/>
      </a:accent5>
      <a:accent6>
        <a:srgbClr val="6B7280"/>
      </a:accent6>
      <a:hlink>
        <a:srgbClr val="0072B2"/>
      </a:hlink>
      <a:folHlink>
        <a:srgbClr val="6B7280"/>
      </a:folHlink>
    </a:clrScheme>
    <a:fontScheme name="CampusEnerg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Energy Consumption Prediction and Anomaly Detection</dc:title>
  <dc:subject>PptxGenJS Presentation</dc:subject>
  <dc:creator>PptxGenJS</dc:creator>
  <cp:lastModifiedBy>PptxGenJS</cp:lastModifiedBy>
  <cp:revision>1</cp:revision>
  <dcterms:created xsi:type="dcterms:W3CDTF">2026-10-10T04:58:36Z</dcterms:created>
  <dcterms:modified xsi:type="dcterms:W3CDTF">2026-10-10T04:58:36Z</dcterms:modified>
</cp:coreProperties>
</file>